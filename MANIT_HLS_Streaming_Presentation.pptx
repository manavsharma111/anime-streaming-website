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Our project is an adaptive video streaming platform. The key idea is that every video gets processed in the background and served in multiple qualities, so playback never buffers. We are four of us in group 43, guided by Dr. Vivek Pratap Singh.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streaming needs a lot of bandwidth, and network speeds keep changing. HLS handles this by keeping the video in small segments at multiple qualities, and the player switches between them on the fly. That is basically what we built.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with a naive build is simple. Large videos take long to load, and if you convert them inside the main server, the whole site freezes for everyone else. That is exactly what we wanted to avoid.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our objectives were: adaptive HLS streaming, background transcoding, multi audio and subtitle support, and a main server that stays free to serve users.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student projects just serve MP4 files directly, which buffers badly. Cloud solutions like AWS MediaConvert solve it but cost a lot. We wanted something free and scalable, so we went with FFmpeg plus job queues in Node.js.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it works. The user uploads from the React frontend, Express saves the raw file and adds a job to the queue, a background worker picks it up, FFmpeg converts the video into small HLS segments, and thumbnails get generated at the same time. If the panel asks for specifics: FFprobe scans the file first to count the audio and subtitle tracks. Subtitles come out as VTT, and we strip the styling tags, otherwise web players show raw code on screen. Audio becomes AAC at 128 kbps and 48 kilohertz, and languages are detected from the filename, like naruto_hindi becomes Hindi. Video is encoded with libx264, Main profile, yuv420p, preset ultrafast, single thread so the server RAM does not overload. Segments are 6 seconds, with a keyframe every 48 frames so seeking does not freeze the player. And the MP4 downloads are not re-encoded, just repackaged from the HLS segments, so they are instant.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basically what is inside our FFmpeg service, in case anyone asks how deep our implementation goes. FFprobe scans the file first, so the pipeline knows exactly how many audio and subtitle tracks are inside before it starts. Subtitles are extracted and cleaned, otherwise browsers show raw styling code. Audio goes to AAC at 128 kbps, and we detect the language from the filename. Video is libx264 with the Main profile so even old phones can play it. We decode once and encode all three resolutions in a single pass, segments are 6 seconds with a keyframe every 48 frames for smooth seeking, and everything runs on a single thread so the shared server does not run out of RAM. The MP4 downloads are just repackaged from the segments, so they are instant.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flow in one picture. React frontend on the left, the Node API, the Redis job queue, the FFmpeg workers, file storage, and finally the HLS player. The main API never touches the heavy transcoding work. One thing worth mentioning: we decode the source video only once and split it into 1080p, 720p and 480p in the same pass, which saves a lot of CPU compared to encoding three times. The master playlist is generated by hand, it lists every video variant and audio track, so the player can switch quality and language on its own. And if a source is only 720p, we skip the 1080p variant rather than upscale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it actually works. The server does not crash during heavy uploads anymore, videos play smoothly even on slow networks, audio and subtitles switch seamlessly, and failed jobs can auto retry. We also load tested the backend. Artillery simulated 650 users making about 2,000 requests, and 99.89 percent succeeded. In the k6 stress test it scaled to 1,000 users and did not drop a single request.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Background processing is crucial for video platforms. HLS is a much better experience than direct MP4. And the custom FFmpeg integration was complex, but it is very cost effective compared to paid cloud services.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 Move storage to the cloud, add low latency live streaming, and run multiple transcode workers on different servers.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our main sources. Thank you, we are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274320"/>
            <a:ext cx="12188952" cy="457200"/>
          </a:xfrm>
          <a:prstGeom prst="rect">
            <a:avLst/>
          </a:prstGeom>
          <a:noFill/>
        </p:spPr>
        <p:txBody>
          <a:bodyPr wrap="square">
            <a:spAutoFit/>
          </a:bodyPr>
          <a:lstStyle/>
          <a:p>
            <a:pPr algn="ctr"/>
            <a:r>
              <a:rPr sz="2800" b="1" i="0">
                <a:solidFill>
                  <a:srgbClr val="262626"/>
                </a:solidFill>
                <a:latin typeface="Arial"/>
              </a:rPr>
              <a:t>Project Presentation</a:t>
            </a:r>
          </a:p>
        </p:txBody>
      </p:sp>
      <p:sp>
        <p:nvSpPr>
          <p:cNvPr id="3" name="TextBox 2"/>
          <p:cNvSpPr txBox="1"/>
          <p:nvPr/>
        </p:nvSpPr>
        <p:spPr>
          <a:xfrm>
            <a:off x="0" y="749808"/>
            <a:ext cx="12188952" cy="365760"/>
          </a:xfrm>
          <a:prstGeom prst="rect">
            <a:avLst/>
          </a:prstGeom>
          <a:noFill/>
        </p:spPr>
        <p:txBody>
          <a:bodyPr wrap="square">
            <a:spAutoFit/>
          </a:bodyPr>
          <a:lstStyle/>
          <a:p>
            <a:pPr algn="ctr"/>
            <a:r>
              <a:rPr sz="2200" b="0" i="0">
                <a:solidFill>
                  <a:srgbClr val="262626"/>
                </a:solidFill>
                <a:latin typeface="Arial"/>
              </a:rPr>
              <a:t>On</a:t>
            </a:r>
          </a:p>
        </p:txBody>
      </p:sp>
      <p:sp>
        <p:nvSpPr>
          <p:cNvPr id="4" name="TextBox 3"/>
          <p:cNvSpPr txBox="1"/>
          <p:nvPr/>
        </p:nvSpPr>
        <p:spPr>
          <a:xfrm>
            <a:off x="822960" y="1234440"/>
            <a:ext cx="10543032" cy="1234440"/>
          </a:xfrm>
          <a:prstGeom prst="rect">
            <a:avLst/>
          </a:prstGeom>
          <a:noFill/>
        </p:spPr>
        <p:txBody>
          <a:bodyPr wrap="square">
            <a:spAutoFit/>
          </a:bodyPr>
          <a:lstStyle/>
          <a:p>
            <a:pPr algn="ctr"/>
            <a:r>
              <a:rPr sz="2800" b="1" i="0">
                <a:solidFill>
                  <a:srgbClr val="C00000"/>
                </a:solidFill>
                <a:latin typeface="Arial"/>
              </a:rPr>
              <a:t>Adaptive Bitrate HLS Video Streaming Platform with Asynchronous Background Transcoding</a:t>
            </a:r>
          </a:p>
        </p:txBody>
      </p:sp>
      <p:pic>
        <p:nvPicPr>
          <p:cNvPr id="5" name="Picture 4" descr="im-001.jpg"/>
          <p:cNvPicPr>
            <a:picLocks noChangeAspect="1"/>
          </p:cNvPicPr>
          <p:nvPr/>
        </p:nvPicPr>
        <p:blipFill>
          <a:blip r:embed="rId2"/>
          <a:stretch>
            <a:fillRect/>
          </a:stretch>
        </p:blipFill>
        <p:spPr>
          <a:xfrm>
            <a:off x="5532120" y="2697480"/>
            <a:ext cx="1143000" cy="1197864"/>
          </a:xfrm>
          <a:prstGeom prst="rect">
            <a:avLst/>
          </a:prstGeom>
        </p:spPr>
      </p:pic>
      <p:sp>
        <p:nvSpPr>
          <p:cNvPr id="6" name="TextBox 5"/>
          <p:cNvSpPr txBox="1"/>
          <p:nvPr/>
        </p:nvSpPr>
        <p:spPr>
          <a:xfrm>
            <a:off x="640080" y="4069080"/>
            <a:ext cx="4206240" cy="365760"/>
          </a:xfrm>
          <a:prstGeom prst="rect">
            <a:avLst/>
          </a:prstGeom>
          <a:noFill/>
        </p:spPr>
        <p:txBody>
          <a:bodyPr wrap="square">
            <a:spAutoFit/>
          </a:bodyPr>
          <a:lstStyle/>
          <a:p>
            <a:pPr algn="l"/>
            <a:r>
              <a:rPr sz="1600" b="1" i="0">
                <a:solidFill>
                  <a:srgbClr val="262626"/>
                </a:solidFill>
                <a:latin typeface="Arial"/>
              </a:rPr>
              <a:t>Project Group No: 43</a:t>
            </a:r>
          </a:p>
        </p:txBody>
      </p:sp>
      <p:sp>
        <p:nvSpPr>
          <p:cNvPr id="7" name="TextBox 6"/>
          <p:cNvSpPr txBox="1"/>
          <p:nvPr/>
        </p:nvSpPr>
        <p:spPr>
          <a:xfrm>
            <a:off x="640080" y="4480560"/>
            <a:ext cx="4206240" cy="1463040"/>
          </a:xfrm>
          <a:prstGeom prst="rect">
            <a:avLst/>
          </a:prstGeom>
          <a:noFill/>
        </p:spPr>
        <p:txBody>
          <a:bodyPr wrap="square">
            <a:spAutoFit/>
          </a:bodyPr>
          <a:lstStyle/>
          <a:p>
            <a:pPr algn="l"/>
            <a:r>
              <a:rPr sz="1500" b="0" i="0">
                <a:solidFill>
                  <a:srgbClr val="262626"/>
                </a:solidFill>
                <a:latin typeface="Arial"/>
              </a:rPr>
              <a:t>Akshay Meena (2311401161)</a:t>
            </a:r>
          </a:p>
          <a:p>
            <a:pPr algn="l"/>
            <a:r>
              <a:rPr sz="1500" b="0" i="0">
                <a:solidFill>
                  <a:srgbClr val="262626"/>
                </a:solidFill>
                <a:latin typeface="Arial"/>
              </a:rPr>
              <a:t>Gaurav Bhaisare (2311401162)</a:t>
            </a:r>
          </a:p>
          <a:p>
            <a:pPr algn="l"/>
            <a:r>
              <a:rPr sz="1500" b="0" i="0">
                <a:solidFill>
                  <a:srgbClr val="262626"/>
                </a:solidFill>
                <a:latin typeface="Arial"/>
              </a:rPr>
              <a:t>Dhruv Kumar (2311401248)</a:t>
            </a:r>
          </a:p>
          <a:p>
            <a:pPr algn="l"/>
            <a:r>
              <a:rPr sz="1500" b="0" i="0">
                <a:solidFill>
                  <a:srgbClr val="262626"/>
                </a:solidFill>
                <a:latin typeface="Arial"/>
              </a:rPr>
              <a:t>Manav Sharma (2311401271)</a:t>
            </a:r>
          </a:p>
        </p:txBody>
      </p:sp>
      <p:sp>
        <p:nvSpPr>
          <p:cNvPr id="8" name="TextBox 7"/>
          <p:cNvSpPr txBox="1"/>
          <p:nvPr/>
        </p:nvSpPr>
        <p:spPr>
          <a:xfrm>
            <a:off x="7406640" y="4069080"/>
            <a:ext cx="4206240" cy="365760"/>
          </a:xfrm>
          <a:prstGeom prst="rect">
            <a:avLst/>
          </a:prstGeom>
          <a:noFill/>
        </p:spPr>
        <p:txBody>
          <a:bodyPr wrap="square">
            <a:spAutoFit/>
          </a:bodyPr>
          <a:lstStyle/>
          <a:p>
            <a:pPr algn="l"/>
            <a:r>
              <a:rPr sz="1600" b="0" i="0">
                <a:solidFill>
                  <a:srgbClr val="262626"/>
                </a:solidFill>
                <a:latin typeface="Arial"/>
              </a:rPr>
              <a:t>Under the Supervision of</a:t>
            </a:r>
          </a:p>
        </p:txBody>
      </p:sp>
      <p:sp>
        <p:nvSpPr>
          <p:cNvPr id="9" name="TextBox 8"/>
          <p:cNvSpPr txBox="1"/>
          <p:nvPr/>
        </p:nvSpPr>
        <p:spPr>
          <a:xfrm>
            <a:off x="7406640" y="4480560"/>
            <a:ext cx="4206240" cy="457200"/>
          </a:xfrm>
          <a:prstGeom prst="rect">
            <a:avLst/>
          </a:prstGeom>
          <a:noFill/>
        </p:spPr>
        <p:txBody>
          <a:bodyPr wrap="square">
            <a:spAutoFit/>
          </a:bodyPr>
          <a:lstStyle/>
          <a:p>
            <a:pPr algn="l"/>
            <a:r>
              <a:rPr sz="1800" b="1" i="0">
                <a:solidFill>
                  <a:srgbClr val="262626"/>
                </a:solidFill>
                <a:latin typeface="Arial"/>
              </a:rPr>
              <a:t>Dr. Vivek Pratap Singh</a:t>
            </a:r>
          </a:p>
        </p:txBody>
      </p:sp>
      <p:sp>
        <p:nvSpPr>
          <p:cNvPr id="10" name="TextBox 9"/>
          <p:cNvSpPr txBox="1"/>
          <p:nvPr/>
        </p:nvSpPr>
        <p:spPr>
          <a:xfrm>
            <a:off x="822960" y="5806440"/>
            <a:ext cx="10543032" cy="365760"/>
          </a:xfrm>
          <a:prstGeom prst="rect">
            <a:avLst/>
          </a:prstGeom>
          <a:noFill/>
        </p:spPr>
        <p:txBody>
          <a:bodyPr wrap="square">
            <a:spAutoFit/>
          </a:bodyPr>
          <a:lstStyle/>
          <a:p>
            <a:pPr algn="ctr"/>
            <a:r>
              <a:rPr sz="1600" b="1" i="0">
                <a:solidFill>
                  <a:srgbClr val="6B0F1A"/>
                </a:solidFill>
                <a:latin typeface="Arial"/>
              </a:rPr>
              <a:t>Department of Electronics and Communication Engineering</a:t>
            </a:r>
          </a:p>
        </p:txBody>
      </p:sp>
      <p:sp>
        <p:nvSpPr>
          <p:cNvPr id="11" name="TextBox 10"/>
          <p:cNvSpPr txBox="1"/>
          <p:nvPr/>
        </p:nvSpPr>
        <p:spPr>
          <a:xfrm>
            <a:off x="822960" y="6144768"/>
            <a:ext cx="10543032" cy="411480"/>
          </a:xfrm>
          <a:prstGeom prst="rect">
            <a:avLst/>
          </a:prstGeom>
          <a:noFill/>
        </p:spPr>
        <p:txBody>
          <a:bodyPr wrap="square">
            <a:spAutoFit/>
          </a:bodyPr>
          <a:lstStyle/>
          <a:p>
            <a:pPr algn="ctr"/>
            <a:r>
              <a:rPr sz="1800" b="1" i="0">
                <a:solidFill>
                  <a:srgbClr val="6B0F1A"/>
                </a:solidFill>
                <a:latin typeface="Arial"/>
              </a:rPr>
              <a:t>Maulana Azad National Institute of Technology Bhopal</a:t>
            </a:r>
          </a:p>
        </p:txBody>
      </p:sp>
      <p:sp>
        <p:nvSpPr>
          <p:cNvPr id="12" name="TextBox 11"/>
          <p:cNvSpPr txBox="1"/>
          <p:nvPr/>
        </p:nvSpPr>
        <p:spPr>
          <a:xfrm>
            <a:off x="228600" y="6473952"/>
            <a:ext cx="2743200" cy="320040"/>
          </a:xfrm>
          <a:prstGeom prst="rect">
            <a:avLst/>
          </a:prstGeom>
          <a:noFill/>
        </p:spPr>
        <p:txBody>
          <a:bodyPr wrap="square">
            <a:spAutoFit/>
          </a:bodyPr>
          <a:lstStyle/>
          <a:p>
            <a:pPr algn="l"/>
            <a:r>
              <a:rPr sz="1200" b="0" i="0">
                <a:solidFill>
                  <a:srgbClr val="595959"/>
                </a:solidFill>
                <a:latin typeface="Arial"/>
              </a:rPr>
              <a:t>Date</a:t>
            </a:r>
          </a:p>
        </p:txBody>
      </p:sp>
      <p:sp>
        <p:nvSpPr>
          <p:cNvPr id="13" name="TextBox 12"/>
          <p:cNvSpPr txBox="1"/>
          <p:nvPr/>
        </p:nvSpPr>
        <p:spPr>
          <a:xfrm>
            <a:off x="9966960" y="6473952"/>
            <a:ext cx="2011680" cy="320040"/>
          </a:xfrm>
          <a:prstGeom prst="rect">
            <a:avLst/>
          </a:prstGeom>
          <a:noFill/>
        </p:spPr>
        <p:txBody>
          <a:bodyPr wrap="square">
            <a:spAutoFit/>
          </a:bodyPr>
          <a:lstStyle/>
          <a:p>
            <a:pPr algn="r"/>
            <a:r>
              <a:rPr sz="1200" b="0" i="0">
                <a:solidFill>
                  <a:srgbClr val="595959"/>
                </a:solidFill>
                <a:latin typeface="Arial"/>
              </a:rPr>
              <a:t>Slide No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0515600" cy="685800"/>
          </a:xfrm>
          <a:prstGeom prst="rect">
            <a:avLst/>
          </a:prstGeom>
          <a:noFill/>
        </p:spPr>
        <p:txBody>
          <a:bodyPr wrap="square">
            <a:spAutoFit/>
          </a:bodyPr>
          <a:lstStyle/>
          <a:p>
            <a:pPr algn="l"/>
            <a:r>
              <a:rPr sz="3200" b="1" i="0">
                <a:solidFill>
                  <a:srgbClr val="262626"/>
                </a:solidFill>
                <a:latin typeface="Arial"/>
              </a:rPr>
              <a:t>Introduction</a:t>
            </a:r>
          </a:p>
        </p:txBody>
      </p:sp>
      <p:sp>
        <p:nvSpPr>
          <p:cNvPr id="3" name="Rectangle 2"/>
          <p:cNvSpPr/>
          <p:nvPr/>
        </p:nvSpPr>
        <p:spPr>
          <a:xfrm>
            <a:off x="521207" y="969264"/>
            <a:ext cx="11155680" cy="41148"/>
          </a:xfrm>
          <a:prstGeom prst="rect">
            <a:avLst/>
          </a:prstGeom>
          <a:solidFill>
            <a:srgbClr val="6B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001.jpg"/>
          <p:cNvPicPr>
            <a:picLocks noChangeAspect="1"/>
          </p:cNvPicPr>
          <p:nvPr/>
        </p:nvPicPr>
        <p:blipFill>
          <a:blip r:embed="rId2"/>
          <a:stretch>
            <a:fillRect/>
          </a:stretch>
        </p:blipFill>
        <p:spPr>
          <a:xfrm>
            <a:off x="11292840" y="164592"/>
            <a:ext cx="658368" cy="694944"/>
          </a:xfrm>
          <a:prstGeom prst="rect">
            <a:avLst/>
          </a:prstGeom>
        </p:spPr>
      </p:pic>
      <p:sp>
        <p:nvSpPr>
          <p:cNvPr id="5" name="TextBox 4"/>
          <p:cNvSpPr txBox="1"/>
          <p:nvPr/>
        </p:nvSpPr>
        <p:spPr>
          <a:xfrm>
            <a:off x="9966960" y="6473952"/>
            <a:ext cx="2011680" cy="320040"/>
          </a:xfrm>
          <a:prstGeom prst="rect">
            <a:avLst/>
          </a:prstGeom>
          <a:noFill/>
        </p:spPr>
        <p:txBody>
          <a:bodyPr wrap="square">
            <a:spAutoFit/>
          </a:bodyPr>
          <a:lstStyle/>
          <a:p>
            <a:pPr algn="r"/>
            <a:r>
              <a:rPr sz="1200" b="0" i="0">
                <a:solidFill>
                  <a:srgbClr val="595959"/>
                </a:solidFill>
                <a:latin typeface="Arial"/>
              </a:rPr>
              <a:t>Slide No: 2</a:t>
            </a:r>
          </a:p>
        </p:txBody>
      </p:sp>
      <p:sp>
        <p:nvSpPr>
          <p:cNvPr id="6" name="TextBox 5"/>
          <p:cNvSpPr txBox="1"/>
          <p:nvPr/>
        </p:nvSpPr>
        <p:spPr>
          <a:xfrm>
            <a:off x="640080" y="1463040"/>
            <a:ext cx="10789920" cy="4114800"/>
          </a:xfrm>
          <a:prstGeom prst="rect">
            <a:avLst/>
          </a:prstGeom>
          <a:noFill/>
        </p:spPr>
        <p:txBody>
          <a:bodyPr wrap="square">
            <a:spAutoFit/>
          </a:bodyPr>
          <a:lstStyle/>
          <a:p>
            <a:pPr>
              <a:spcAft>
                <a:spcPts val="2000"/>
              </a:spcAft>
            </a:pPr>
            <a:r>
              <a:rPr sz="2600">
                <a:solidFill>
                  <a:srgbClr val="262626"/>
                </a:solidFill>
                <a:latin typeface="Arial"/>
              </a:rPr>
              <a:t>•  Video streaming needs high internet bandwidth.</a:t>
            </a:r>
          </a:p>
          <a:p>
            <a:pPr>
              <a:spcAft>
                <a:spcPts val="2000"/>
              </a:spcAft>
            </a:pPr>
            <a:r>
              <a:rPr sz="2600">
                <a:solidFill>
                  <a:srgbClr val="262626"/>
                </a:solidFill>
                <a:latin typeface="Arial"/>
              </a:rPr>
              <a:t>•  Users face buffering when network is slow.</a:t>
            </a:r>
          </a:p>
          <a:p>
            <a:pPr>
              <a:spcAft>
                <a:spcPts val="2000"/>
              </a:spcAft>
            </a:pPr>
            <a:r>
              <a:rPr sz="2600">
                <a:solidFill>
                  <a:srgbClr val="262626"/>
                </a:solidFill>
                <a:latin typeface="Arial"/>
              </a:rPr>
              <a:t>•  HLS (HTTP Live Streaming) solves this issue.</a:t>
            </a:r>
          </a:p>
          <a:p>
            <a:pPr>
              <a:spcAft>
                <a:spcPts val="2000"/>
              </a:spcAft>
            </a:pPr>
            <a:r>
              <a:rPr sz="2600">
                <a:solidFill>
                  <a:srgbClr val="262626"/>
                </a:solidFill>
                <a:latin typeface="Arial"/>
              </a:rPr>
              <a:t>•  It changes video quality based on internet speed.</a:t>
            </a:r>
          </a:p>
          <a:p>
            <a:pPr>
              <a:spcAft>
                <a:spcPts val="2000"/>
              </a:spcAft>
            </a:pPr>
            <a:r>
              <a:rPr sz="2600">
                <a:solidFill>
                  <a:srgbClr val="262626"/>
                </a:solidFill>
                <a:latin typeface="Arial"/>
              </a:rPr>
              <a:t>•  Our project implements this for an Anime platform.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0515600" cy="685800"/>
          </a:xfrm>
          <a:prstGeom prst="rect">
            <a:avLst/>
          </a:prstGeom>
          <a:noFill/>
        </p:spPr>
        <p:txBody>
          <a:bodyPr wrap="square">
            <a:spAutoFit/>
          </a:bodyPr>
          <a:lstStyle/>
          <a:p>
            <a:pPr algn="l"/>
            <a:r>
              <a:rPr sz="3200" b="1" i="0">
                <a:solidFill>
                  <a:srgbClr val="262626"/>
                </a:solidFill>
                <a:latin typeface="Arial"/>
              </a:rPr>
              <a:t>Problem Statement</a:t>
            </a:r>
          </a:p>
        </p:txBody>
      </p:sp>
      <p:sp>
        <p:nvSpPr>
          <p:cNvPr id="3" name="Rectangle 2"/>
          <p:cNvSpPr/>
          <p:nvPr/>
        </p:nvSpPr>
        <p:spPr>
          <a:xfrm>
            <a:off x="521207" y="969264"/>
            <a:ext cx="11155680" cy="41148"/>
          </a:xfrm>
          <a:prstGeom prst="rect">
            <a:avLst/>
          </a:prstGeom>
          <a:solidFill>
            <a:srgbClr val="6B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001.jpg"/>
          <p:cNvPicPr>
            <a:picLocks noChangeAspect="1"/>
          </p:cNvPicPr>
          <p:nvPr/>
        </p:nvPicPr>
        <p:blipFill>
          <a:blip r:embed="rId2"/>
          <a:stretch>
            <a:fillRect/>
          </a:stretch>
        </p:blipFill>
        <p:spPr>
          <a:xfrm>
            <a:off x="11292840" y="164592"/>
            <a:ext cx="658368" cy="694944"/>
          </a:xfrm>
          <a:prstGeom prst="rect">
            <a:avLst/>
          </a:prstGeom>
        </p:spPr>
      </p:pic>
      <p:sp>
        <p:nvSpPr>
          <p:cNvPr id="5" name="TextBox 4"/>
          <p:cNvSpPr txBox="1"/>
          <p:nvPr/>
        </p:nvSpPr>
        <p:spPr>
          <a:xfrm>
            <a:off x="9966960" y="6473952"/>
            <a:ext cx="2011680" cy="320040"/>
          </a:xfrm>
          <a:prstGeom prst="rect">
            <a:avLst/>
          </a:prstGeom>
          <a:noFill/>
        </p:spPr>
        <p:txBody>
          <a:bodyPr wrap="square">
            <a:spAutoFit/>
          </a:bodyPr>
          <a:lstStyle/>
          <a:p>
            <a:pPr algn="r"/>
            <a:r>
              <a:rPr sz="1200" b="0" i="0">
                <a:solidFill>
                  <a:srgbClr val="595959"/>
                </a:solidFill>
                <a:latin typeface="Arial"/>
              </a:rPr>
              <a:t>Slide No: 3</a:t>
            </a:r>
          </a:p>
        </p:txBody>
      </p:sp>
      <p:sp>
        <p:nvSpPr>
          <p:cNvPr id="6" name="TextBox 5"/>
          <p:cNvSpPr txBox="1"/>
          <p:nvPr/>
        </p:nvSpPr>
        <p:spPr>
          <a:xfrm>
            <a:off x="640080" y="1737360"/>
            <a:ext cx="10789920" cy="3200400"/>
          </a:xfrm>
          <a:prstGeom prst="rect">
            <a:avLst/>
          </a:prstGeom>
          <a:noFill/>
        </p:spPr>
        <p:txBody>
          <a:bodyPr wrap="square">
            <a:spAutoFit/>
          </a:bodyPr>
          <a:lstStyle/>
          <a:p>
            <a:pPr>
              <a:spcAft>
                <a:spcPts val="2000"/>
              </a:spcAft>
            </a:pPr>
            <a:r>
              <a:rPr sz="2600">
                <a:solidFill>
                  <a:srgbClr val="262626"/>
                </a:solidFill>
                <a:latin typeface="Arial"/>
              </a:rPr>
              <a:t>•  Large video files take too long to load.</a:t>
            </a:r>
          </a:p>
          <a:p>
            <a:pPr>
              <a:spcAft>
                <a:spcPts val="2000"/>
              </a:spcAft>
            </a:pPr>
            <a:r>
              <a:rPr sz="2600">
                <a:solidFill>
                  <a:srgbClr val="262626"/>
                </a:solidFill>
                <a:latin typeface="Arial"/>
              </a:rPr>
              <a:t>•  Converting videos synchronously blocks our Node.js server.</a:t>
            </a:r>
          </a:p>
          <a:p>
            <a:pPr>
              <a:spcAft>
                <a:spcPts val="2000"/>
              </a:spcAft>
            </a:pPr>
            <a:r>
              <a:rPr sz="2600">
                <a:solidFill>
                  <a:srgbClr val="262626"/>
                </a:solidFill>
                <a:latin typeface="Arial"/>
              </a:rPr>
              <a:t>•  This causes the website to freeze for other users.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0515600" cy="685800"/>
          </a:xfrm>
          <a:prstGeom prst="rect">
            <a:avLst/>
          </a:prstGeom>
          <a:noFill/>
        </p:spPr>
        <p:txBody>
          <a:bodyPr wrap="square">
            <a:spAutoFit/>
          </a:bodyPr>
          <a:lstStyle/>
          <a:p>
            <a:pPr algn="l"/>
            <a:r>
              <a:rPr sz="3200" b="1" i="0">
                <a:solidFill>
                  <a:srgbClr val="262626"/>
                </a:solidFill>
                <a:latin typeface="Arial"/>
              </a:rPr>
              <a:t>Objectives</a:t>
            </a:r>
          </a:p>
        </p:txBody>
      </p:sp>
      <p:sp>
        <p:nvSpPr>
          <p:cNvPr id="3" name="Rectangle 2"/>
          <p:cNvSpPr/>
          <p:nvPr/>
        </p:nvSpPr>
        <p:spPr>
          <a:xfrm>
            <a:off x="521207" y="969264"/>
            <a:ext cx="11155680" cy="41148"/>
          </a:xfrm>
          <a:prstGeom prst="rect">
            <a:avLst/>
          </a:prstGeom>
          <a:solidFill>
            <a:srgbClr val="6B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001.jpg"/>
          <p:cNvPicPr>
            <a:picLocks noChangeAspect="1"/>
          </p:cNvPicPr>
          <p:nvPr/>
        </p:nvPicPr>
        <p:blipFill>
          <a:blip r:embed="rId2"/>
          <a:stretch>
            <a:fillRect/>
          </a:stretch>
        </p:blipFill>
        <p:spPr>
          <a:xfrm>
            <a:off x="11292840" y="164592"/>
            <a:ext cx="658368" cy="694944"/>
          </a:xfrm>
          <a:prstGeom prst="rect">
            <a:avLst/>
          </a:prstGeom>
        </p:spPr>
      </p:pic>
      <p:sp>
        <p:nvSpPr>
          <p:cNvPr id="5" name="TextBox 4"/>
          <p:cNvSpPr txBox="1"/>
          <p:nvPr/>
        </p:nvSpPr>
        <p:spPr>
          <a:xfrm>
            <a:off x="9966960" y="6473952"/>
            <a:ext cx="2011680" cy="320040"/>
          </a:xfrm>
          <a:prstGeom prst="rect">
            <a:avLst/>
          </a:prstGeom>
          <a:noFill/>
        </p:spPr>
        <p:txBody>
          <a:bodyPr wrap="square">
            <a:spAutoFit/>
          </a:bodyPr>
          <a:lstStyle/>
          <a:p>
            <a:pPr algn="r"/>
            <a:r>
              <a:rPr sz="1200" b="0" i="0">
                <a:solidFill>
                  <a:srgbClr val="595959"/>
                </a:solidFill>
                <a:latin typeface="Arial"/>
              </a:rPr>
              <a:t>Slide No: 4</a:t>
            </a:r>
          </a:p>
        </p:txBody>
      </p:sp>
      <p:sp>
        <p:nvSpPr>
          <p:cNvPr id="6" name="TextBox 5"/>
          <p:cNvSpPr txBox="1"/>
          <p:nvPr/>
        </p:nvSpPr>
        <p:spPr>
          <a:xfrm>
            <a:off x="640080" y="1554480"/>
            <a:ext cx="10789920" cy="3657600"/>
          </a:xfrm>
          <a:prstGeom prst="rect">
            <a:avLst/>
          </a:prstGeom>
          <a:noFill/>
        </p:spPr>
        <p:txBody>
          <a:bodyPr wrap="square">
            <a:spAutoFit/>
          </a:bodyPr>
          <a:lstStyle/>
          <a:p>
            <a:pPr>
              <a:spcAft>
                <a:spcPts val="2000"/>
              </a:spcAft>
            </a:pPr>
            <a:r>
              <a:rPr sz="2600">
                <a:solidFill>
                  <a:srgbClr val="262626"/>
                </a:solidFill>
                <a:latin typeface="Arial"/>
              </a:rPr>
              <a:t>•  Build an adaptive HLS streaming service.</a:t>
            </a:r>
          </a:p>
          <a:p>
            <a:pPr>
              <a:spcAft>
                <a:spcPts val="2000"/>
              </a:spcAft>
            </a:pPr>
            <a:r>
              <a:rPr sz="2600">
                <a:solidFill>
                  <a:srgbClr val="262626"/>
                </a:solidFill>
                <a:latin typeface="Arial"/>
              </a:rPr>
              <a:t>•  Process videos in the background (asynchronously).</a:t>
            </a:r>
          </a:p>
          <a:p>
            <a:pPr>
              <a:spcAft>
                <a:spcPts val="2000"/>
              </a:spcAft>
            </a:pPr>
            <a:r>
              <a:rPr sz="2600">
                <a:solidFill>
                  <a:srgbClr val="262626"/>
                </a:solidFill>
                <a:latin typeface="Arial"/>
              </a:rPr>
              <a:t>•  Support multiple audio tracks and subtitles.</a:t>
            </a:r>
          </a:p>
          <a:p>
            <a:pPr>
              <a:spcAft>
                <a:spcPts val="2000"/>
              </a:spcAft>
            </a:pPr>
            <a:r>
              <a:rPr sz="2600">
                <a:solidFill>
                  <a:srgbClr val="262626"/>
                </a:solidFill>
                <a:latin typeface="Arial"/>
              </a:rPr>
              <a:t>•  Keep the main server free to handle user requests.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0515600" cy="685800"/>
          </a:xfrm>
          <a:prstGeom prst="rect">
            <a:avLst/>
          </a:prstGeom>
          <a:noFill/>
        </p:spPr>
        <p:txBody>
          <a:bodyPr wrap="square">
            <a:spAutoFit/>
          </a:bodyPr>
          <a:lstStyle/>
          <a:p>
            <a:pPr algn="l"/>
            <a:r>
              <a:rPr sz="3200" b="1" i="0">
                <a:solidFill>
                  <a:srgbClr val="262626"/>
                </a:solidFill>
                <a:latin typeface="Arial"/>
              </a:rPr>
              <a:t>Literature Survey</a:t>
            </a:r>
          </a:p>
        </p:txBody>
      </p:sp>
      <p:sp>
        <p:nvSpPr>
          <p:cNvPr id="3" name="Rectangle 2"/>
          <p:cNvSpPr/>
          <p:nvPr/>
        </p:nvSpPr>
        <p:spPr>
          <a:xfrm>
            <a:off x="521207" y="969264"/>
            <a:ext cx="11155680" cy="41148"/>
          </a:xfrm>
          <a:prstGeom prst="rect">
            <a:avLst/>
          </a:prstGeom>
          <a:solidFill>
            <a:srgbClr val="6B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001.jpg"/>
          <p:cNvPicPr>
            <a:picLocks noChangeAspect="1"/>
          </p:cNvPicPr>
          <p:nvPr/>
        </p:nvPicPr>
        <p:blipFill>
          <a:blip r:embed="rId2"/>
          <a:stretch>
            <a:fillRect/>
          </a:stretch>
        </p:blipFill>
        <p:spPr>
          <a:xfrm>
            <a:off x="11292840" y="164592"/>
            <a:ext cx="658368" cy="694944"/>
          </a:xfrm>
          <a:prstGeom prst="rect">
            <a:avLst/>
          </a:prstGeom>
        </p:spPr>
      </p:pic>
      <p:sp>
        <p:nvSpPr>
          <p:cNvPr id="5" name="TextBox 4"/>
          <p:cNvSpPr txBox="1"/>
          <p:nvPr/>
        </p:nvSpPr>
        <p:spPr>
          <a:xfrm>
            <a:off x="9966960" y="6473952"/>
            <a:ext cx="2011680" cy="320040"/>
          </a:xfrm>
          <a:prstGeom prst="rect">
            <a:avLst/>
          </a:prstGeom>
          <a:noFill/>
        </p:spPr>
        <p:txBody>
          <a:bodyPr wrap="square">
            <a:spAutoFit/>
          </a:bodyPr>
          <a:lstStyle/>
          <a:p>
            <a:pPr algn="r"/>
            <a:r>
              <a:rPr sz="1200" b="0" i="0">
                <a:solidFill>
                  <a:srgbClr val="595959"/>
                </a:solidFill>
                <a:latin typeface="Arial"/>
              </a:rPr>
              <a:t>Slide No: 5</a:t>
            </a:r>
          </a:p>
        </p:txBody>
      </p:sp>
      <p:sp>
        <p:nvSpPr>
          <p:cNvPr id="6" name="TextBox 5"/>
          <p:cNvSpPr txBox="1"/>
          <p:nvPr/>
        </p:nvSpPr>
        <p:spPr>
          <a:xfrm>
            <a:off x="640080" y="1554480"/>
            <a:ext cx="10789920" cy="3657600"/>
          </a:xfrm>
          <a:prstGeom prst="rect">
            <a:avLst/>
          </a:prstGeom>
          <a:noFill/>
        </p:spPr>
        <p:txBody>
          <a:bodyPr wrap="square">
            <a:spAutoFit/>
          </a:bodyPr>
          <a:lstStyle/>
          <a:p>
            <a:pPr>
              <a:spcAft>
                <a:spcPts val="2000"/>
              </a:spcAft>
            </a:pPr>
            <a:r>
              <a:rPr sz="2600">
                <a:solidFill>
                  <a:srgbClr val="262626"/>
                </a:solidFill>
                <a:latin typeface="Arial"/>
              </a:rPr>
              <a:t>•  Most student projects use simple MP4 files (causes buffering).</a:t>
            </a:r>
          </a:p>
          <a:p>
            <a:pPr>
              <a:spcAft>
                <a:spcPts val="2000"/>
              </a:spcAft>
            </a:pPr>
            <a:r>
              <a:rPr sz="2600">
                <a:solidFill>
                  <a:srgbClr val="262626"/>
                </a:solidFill>
                <a:latin typeface="Arial"/>
              </a:rPr>
              <a:t>•  Cloud services like AWS MediaConvert are very expensive.</a:t>
            </a:r>
          </a:p>
          <a:p>
            <a:pPr>
              <a:spcAft>
                <a:spcPts val="2000"/>
              </a:spcAft>
            </a:pPr>
            <a:r>
              <a:rPr sz="2600">
                <a:solidFill>
                  <a:srgbClr val="262626"/>
                </a:solidFill>
                <a:latin typeface="Arial"/>
              </a:rPr>
              <a:t>•  We needed a free, scalable local solution.</a:t>
            </a:r>
          </a:p>
          <a:p>
            <a:pPr>
              <a:spcAft>
                <a:spcPts val="2000"/>
              </a:spcAft>
            </a:pPr>
            <a:r>
              <a:rPr sz="2600">
                <a:solidFill>
                  <a:srgbClr val="262626"/>
                </a:solidFill>
                <a:latin typeface="Arial"/>
              </a:rPr>
              <a:t>•  Decided to use FFmpeg with job queues in Node.js.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0515600" cy="685800"/>
          </a:xfrm>
          <a:prstGeom prst="rect">
            <a:avLst/>
          </a:prstGeom>
          <a:noFill/>
        </p:spPr>
        <p:txBody>
          <a:bodyPr wrap="square">
            <a:spAutoFit/>
          </a:bodyPr>
          <a:lstStyle/>
          <a:p>
            <a:pPr algn="l"/>
            <a:r>
              <a:rPr sz="3200" b="1" i="0">
                <a:solidFill>
                  <a:srgbClr val="262626"/>
                </a:solidFill>
                <a:latin typeface="Arial"/>
              </a:rPr>
              <a:t>Methodology - How it Works</a:t>
            </a:r>
          </a:p>
        </p:txBody>
      </p:sp>
      <p:sp>
        <p:nvSpPr>
          <p:cNvPr id="3" name="Rectangle 2"/>
          <p:cNvSpPr/>
          <p:nvPr/>
        </p:nvSpPr>
        <p:spPr>
          <a:xfrm>
            <a:off x="521207" y="969264"/>
            <a:ext cx="11155680" cy="41148"/>
          </a:xfrm>
          <a:prstGeom prst="rect">
            <a:avLst/>
          </a:prstGeom>
          <a:solidFill>
            <a:srgbClr val="6B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001.jpg"/>
          <p:cNvPicPr>
            <a:picLocks noChangeAspect="1"/>
          </p:cNvPicPr>
          <p:nvPr/>
        </p:nvPicPr>
        <p:blipFill>
          <a:blip r:embed="rId2"/>
          <a:stretch>
            <a:fillRect/>
          </a:stretch>
        </p:blipFill>
        <p:spPr>
          <a:xfrm>
            <a:off x="11292840" y="164592"/>
            <a:ext cx="658368" cy="694944"/>
          </a:xfrm>
          <a:prstGeom prst="rect">
            <a:avLst/>
          </a:prstGeom>
        </p:spPr>
      </p:pic>
      <p:sp>
        <p:nvSpPr>
          <p:cNvPr id="5" name="TextBox 4"/>
          <p:cNvSpPr txBox="1"/>
          <p:nvPr/>
        </p:nvSpPr>
        <p:spPr>
          <a:xfrm>
            <a:off x="9966960" y="6473952"/>
            <a:ext cx="2011680" cy="320040"/>
          </a:xfrm>
          <a:prstGeom prst="rect">
            <a:avLst/>
          </a:prstGeom>
          <a:noFill/>
        </p:spPr>
        <p:txBody>
          <a:bodyPr wrap="square">
            <a:spAutoFit/>
          </a:bodyPr>
          <a:lstStyle/>
          <a:p>
            <a:pPr algn="r"/>
            <a:r>
              <a:rPr sz="1200" b="0" i="0">
                <a:solidFill>
                  <a:srgbClr val="595959"/>
                </a:solidFill>
                <a:latin typeface="Arial"/>
              </a:rPr>
              <a:t>Slide No: 6</a:t>
            </a:r>
          </a:p>
        </p:txBody>
      </p:sp>
      <p:sp>
        <p:nvSpPr>
          <p:cNvPr id="6" name="TextBox 5"/>
          <p:cNvSpPr txBox="1"/>
          <p:nvPr/>
        </p:nvSpPr>
        <p:spPr>
          <a:xfrm>
            <a:off x="640080" y="1463040"/>
            <a:ext cx="10789920" cy="4114800"/>
          </a:xfrm>
          <a:prstGeom prst="rect">
            <a:avLst/>
          </a:prstGeom>
          <a:noFill/>
        </p:spPr>
        <p:txBody>
          <a:bodyPr wrap="square">
            <a:spAutoFit/>
          </a:bodyPr>
          <a:lstStyle/>
          <a:p>
            <a:pPr>
              <a:spcAft>
                <a:spcPts val="1800"/>
              </a:spcAft>
            </a:pPr>
            <a:r>
              <a:rPr sz="2600">
                <a:solidFill>
                  <a:srgbClr val="262626"/>
                </a:solidFill>
                <a:latin typeface="Arial"/>
              </a:rPr>
              <a:t>•  User uploads video from React frontend.</a:t>
            </a:r>
          </a:p>
          <a:p>
            <a:pPr>
              <a:spcAft>
                <a:spcPts val="1800"/>
              </a:spcAft>
            </a:pPr>
            <a:r>
              <a:rPr sz="2600">
                <a:solidFill>
                  <a:srgbClr val="262626"/>
                </a:solidFill>
                <a:latin typeface="Arial"/>
              </a:rPr>
              <a:t>•  Express server saves raw file and adds a job to the queue.</a:t>
            </a:r>
          </a:p>
          <a:p>
            <a:pPr>
              <a:spcAft>
                <a:spcPts val="1800"/>
              </a:spcAft>
            </a:pPr>
            <a:r>
              <a:rPr sz="2600">
                <a:solidFill>
                  <a:srgbClr val="262626"/>
                </a:solidFill>
                <a:latin typeface="Arial"/>
              </a:rPr>
              <a:t>•  Background worker picks up the job.</a:t>
            </a:r>
          </a:p>
          <a:p>
            <a:pPr>
              <a:spcAft>
                <a:spcPts val="1800"/>
              </a:spcAft>
            </a:pPr>
            <a:r>
              <a:rPr sz="2600">
                <a:solidFill>
                  <a:srgbClr val="262626"/>
                </a:solidFill>
                <a:latin typeface="Arial"/>
              </a:rPr>
              <a:t>•  FFmpeg converts video into small HLS segments.</a:t>
            </a:r>
          </a:p>
          <a:p>
            <a:pPr>
              <a:spcAft>
                <a:spcPts val="1800"/>
              </a:spcAft>
            </a:pPr>
            <a:r>
              <a:rPr sz="2600">
                <a:solidFill>
                  <a:srgbClr val="262626"/>
                </a:solidFill>
                <a:latin typeface="Arial"/>
              </a:rPr>
              <a:t>•  Thumbnails are generated at the same 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0515600" cy="685800"/>
          </a:xfrm>
          <a:prstGeom prst="rect">
            <a:avLst/>
          </a:prstGeom>
          <a:noFill/>
        </p:spPr>
        <p:txBody>
          <a:bodyPr wrap="square">
            <a:spAutoFit/>
          </a:bodyPr>
          <a:lstStyle/>
          <a:p>
            <a:pPr algn="l"/>
            <a:r>
              <a:rPr sz="3200" b="1" i="0">
                <a:solidFill>
                  <a:srgbClr val="262626"/>
                </a:solidFill>
                <a:latin typeface="Arial"/>
              </a:rPr>
              <a:t>Implementation Details</a:t>
            </a:r>
          </a:p>
        </p:txBody>
      </p:sp>
      <p:sp>
        <p:nvSpPr>
          <p:cNvPr id="3" name="Rectangle 2"/>
          <p:cNvSpPr/>
          <p:nvPr/>
        </p:nvSpPr>
        <p:spPr>
          <a:xfrm>
            <a:off x="521207" y="969264"/>
            <a:ext cx="11155680" cy="41148"/>
          </a:xfrm>
          <a:prstGeom prst="rect">
            <a:avLst/>
          </a:prstGeom>
          <a:solidFill>
            <a:srgbClr val="6B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001.jpg"/>
          <p:cNvPicPr>
            <a:picLocks noChangeAspect="1"/>
          </p:cNvPicPr>
          <p:nvPr/>
        </p:nvPicPr>
        <p:blipFill>
          <a:blip r:embed="rId2"/>
          <a:stretch>
            <a:fillRect/>
          </a:stretch>
        </p:blipFill>
        <p:spPr>
          <a:xfrm>
            <a:off x="11292840" y="164592"/>
            <a:ext cx="658368" cy="694944"/>
          </a:xfrm>
          <a:prstGeom prst="rect">
            <a:avLst/>
          </a:prstGeom>
        </p:spPr>
      </p:pic>
      <p:sp>
        <p:nvSpPr>
          <p:cNvPr id="5" name="TextBox 4"/>
          <p:cNvSpPr txBox="1"/>
          <p:nvPr/>
        </p:nvSpPr>
        <p:spPr>
          <a:xfrm>
            <a:off x="9966960" y="6473952"/>
            <a:ext cx="2011680" cy="320040"/>
          </a:xfrm>
          <a:prstGeom prst="rect">
            <a:avLst/>
          </a:prstGeom>
          <a:noFill/>
        </p:spPr>
        <p:txBody>
          <a:bodyPr wrap="square">
            <a:spAutoFit/>
          </a:bodyPr>
          <a:lstStyle/>
          <a:p>
            <a:pPr algn="r"/>
            <a:r>
              <a:rPr sz="1200" b="0" i="0">
                <a:solidFill>
                  <a:srgbClr val="595959"/>
                </a:solidFill>
                <a:latin typeface="Arial"/>
              </a:rPr>
              <a:t>Slide No: 7</a:t>
            </a:r>
          </a:p>
        </p:txBody>
      </p:sp>
      <p:sp>
        <p:nvSpPr>
          <p:cNvPr id="6" name="TextBox 5"/>
          <p:cNvSpPr txBox="1"/>
          <p:nvPr/>
        </p:nvSpPr>
        <p:spPr>
          <a:xfrm>
            <a:off x="640080" y="1325880"/>
            <a:ext cx="5120640" cy="365760"/>
          </a:xfrm>
          <a:prstGeom prst="rect">
            <a:avLst/>
          </a:prstGeom>
          <a:noFill/>
        </p:spPr>
        <p:txBody>
          <a:bodyPr wrap="square">
            <a:spAutoFit/>
          </a:bodyPr>
          <a:lstStyle/>
          <a:p>
            <a:pPr algn="l"/>
            <a:r>
              <a:rPr sz="2000" b="1" i="0">
                <a:solidFill>
                  <a:srgbClr val="6B0F1A"/>
                </a:solidFill>
                <a:latin typeface="Arial"/>
              </a:rPr>
              <a:t>Audio &amp; Subtitles</a:t>
            </a:r>
          </a:p>
        </p:txBody>
      </p:sp>
      <p:sp>
        <p:nvSpPr>
          <p:cNvPr id="7" name="TextBox 6"/>
          <p:cNvSpPr txBox="1"/>
          <p:nvPr/>
        </p:nvSpPr>
        <p:spPr>
          <a:xfrm>
            <a:off x="640080" y="1783080"/>
            <a:ext cx="5120640" cy="3657600"/>
          </a:xfrm>
          <a:prstGeom prst="rect">
            <a:avLst/>
          </a:prstGeom>
          <a:noFill/>
        </p:spPr>
        <p:txBody>
          <a:bodyPr wrap="square">
            <a:spAutoFit/>
          </a:bodyPr>
          <a:lstStyle/>
          <a:p>
            <a:pPr>
              <a:spcAft>
                <a:spcPts val="1200"/>
              </a:spcAft>
            </a:pPr>
            <a:r>
              <a:rPr sz="1800">
                <a:solidFill>
                  <a:srgbClr val="262626"/>
                </a:solidFill>
                <a:latin typeface="Arial"/>
              </a:rPr>
              <a:t>•  FFprobe scans the file for tracks first.</a:t>
            </a:r>
          </a:p>
          <a:p>
            <a:pPr>
              <a:spcAft>
                <a:spcPts val="1200"/>
              </a:spcAft>
            </a:pPr>
            <a:r>
              <a:rPr sz="1800">
                <a:solidFill>
                  <a:srgbClr val="262626"/>
                </a:solidFill>
                <a:latin typeface="Arial"/>
              </a:rPr>
              <a:t>•  Subtitles extracted to clean VTT, styling stripped.</a:t>
            </a:r>
          </a:p>
          <a:p>
            <a:pPr>
              <a:spcAft>
                <a:spcPts val="1200"/>
              </a:spcAft>
            </a:pPr>
            <a:r>
              <a:rPr sz="1800">
                <a:solidFill>
                  <a:srgbClr val="262626"/>
                </a:solidFill>
                <a:latin typeface="Arial"/>
              </a:rPr>
              <a:t>•  Audio encoded to AAC, 128 kbps, 48 kHz.</a:t>
            </a:r>
          </a:p>
          <a:p>
            <a:pPr>
              <a:spcAft>
                <a:spcPts val="1200"/>
              </a:spcAft>
            </a:pPr>
            <a:r>
              <a:rPr sz="1800">
                <a:solidFill>
                  <a:srgbClr val="262626"/>
                </a:solidFill>
                <a:latin typeface="Arial"/>
              </a:rPr>
              <a:t>•  Languages detected from filenames (hindi, english, japanese).</a:t>
            </a:r>
          </a:p>
        </p:txBody>
      </p:sp>
      <p:sp>
        <p:nvSpPr>
          <p:cNvPr id="8" name="TextBox 7"/>
          <p:cNvSpPr txBox="1"/>
          <p:nvPr/>
        </p:nvSpPr>
        <p:spPr>
          <a:xfrm>
            <a:off x="6400800" y="1325880"/>
            <a:ext cx="5120640" cy="365760"/>
          </a:xfrm>
          <a:prstGeom prst="rect">
            <a:avLst/>
          </a:prstGeom>
          <a:noFill/>
        </p:spPr>
        <p:txBody>
          <a:bodyPr wrap="square">
            <a:spAutoFit/>
          </a:bodyPr>
          <a:lstStyle/>
          <a:p>
            <a:pPr algn="l"/>
            <a:r>
              <a:rPr sz="2000" b="1" i="0">
                <a:solidFill>
                  <a:srgbClr val="6B0F1A"/>
                </a:solidFill>
                <a:latin typeface="Arial"/>
              </a:rPr>
              <a:t>Video Encoding</a:t>
            </a:r>
          </a:p>
        </p:txBody>
      </p:sp>
      <p:sp>
        <p:nvSpPr>
          <p:cNvPr id="9" name="TextBox 8"/>
          <p:cNvSpPr txBox="1"/>
          <p:nvPr/>
        </p:nvSpPr>
        <p:spPr>
          <a:xfrm>
            <a:off x="6400800" y="1783080"/>
            <a:ext cx="5120640" cy="3840480"/>
          </a:xfrm>
          <a:prstGeom prst="rect">
            <a:avLst/>
          </a:prstGeom>
          <a:noFill/>
        </p:spPr>
        <p:txBody>
          <a:bodyPr wrap="square">
            <a:spAutoFit/>
          </a:bodyPr>
          <a:lstStyle/>
          <a:p>
            <a:pPr>
              <a:spcAft>
                <a:spcPts val="1200"/>
              </a:spcAft>
            </a:pPr>
            <a:r>
              <a:rPr sz="1800">
                <a:solidFill>
                  <a:srgbClr val="262626"/>
                </a:solidFill>
                <a:latin typeface="Arial"/>
              </a:rPr>
              <a:t>•  libx264, Main profile, yuv420p, ultrafast.</a:t>
            </a:r>
          </a:p>
          <a:p>
            <a:pPr>
              <a:spcAft>
                <a:spcPts val="1200"/>
              </a:spcAft>
            </a:pPr>
            <a:r>
              <a:rPr sz="1800">
                <a:solidFill>
                  <a:srgbClr val="262626"/>
                </a:solidFill>
                <a:latin typeface="Arial"/>
              </a:rPr>
              <a:t>•  One decode, 1080p / 720p / 480p encoded together.</a:t>
            </a:r>
          </a:p>
          <a:p>
            <a:pPr>
              <a:spcAft>
                <a:spcPts val="1200"/>
              </a:spcAft>
            </a:pPr>
            <a:r>
              <a:rPr sz="1800">
                <a:solidFill>
                  <a:srgbClr val="262626"/>
                </a:solidFill>
                <a:latin typeface="Arial"/>
              </a:rPr>
              <a:t>•  6-second HLS segments, keyframe every 48 frames.</a:t>
            </a:r>
          </a:p>
          <a:p>
            <a:pPr>
              <a:spcAft>
                <a:spcPts val="1200"/>
              </a:spcAft>
            </a:pPr>
            <a:r>
              <a:rPr sz="1800">
                <a:solidFill>
                  <a:srgbClr val="262626"/>
                </a:solidFill>
                <a:latin typeface="Arial"/>
              </a:rPr>
              <a:t>•  Single thread (-threads 1) protects server RAM.</a:t>
            </a:r>
          </a:p>
          <a:p>
            <a:pPr>
              <a:spcAft>
                <a:spcPts val="1200"/>
              </a:spcAft>
            </a:pPr>
            <a:r>
              <a:rPr sz="1800">
                <a:solidFill>
                  <a:srgbClr val="262626"/>
                </a:solidFill>
                <a:latin typeface="Arial"/>
              </a:rPr>
              <a:t>•  MP4 downloads repackaged, not re-encoded.</a:t>
            </a:r>
          </a:p>
        </p:txBody>
      </p:sp>
      <p:sp>
        <p:nvSpPr>
          <p:cNvPr id="10" name="TextBox 9"/>
          <p:cNvSpPr txBox="1"/>
          <p:nvPr/>
        </p:nvSpPr>
        <p:spPr>
          <a:xfrm>
            <a:off x="640080" y="5760720"/>
            <a:ext cx="10881360" cy="365760"/>
          </a:xfrm>
          <a:prstGeom prst="rect">
            <a:avLst/>
          </a:prstGeom>
          <a:noFill/>
        </p:spPr>
        <p:txBody>
          <a:bodyPr wrap="square">
            <a:spAutoFit/>
          </a:bodyPr>
          <a:lstStyle/>
          <a:p>
            <a:pPr algn="ctr"/>
            <a:r>
              <a:rPr sz="1500" b="0" i="1">
                <a:solidFill>
                  <a:srgbClr val="595959"/>
                </a:solidFill>
                <a:latin typeface="Arial"/>
              </a:rPr>
              <a:t>Every upload goes through the same pipeline - the admin never touches FFmpeg by hand.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0515600" cy="685800"/>
          </a:xfrm>
          <a:prstGeom prst="rect">
            <a:avLst/>
          </a:prstGeom>
          <a:noFill/>
        </p:spPr>
        <p:txBody>
          <a:bodyPr wrap="square">
            <a:spAutoFit/>
          </a:bodyPr>
          <a:lstStyle/>
          <a:p>
            <a:pPr algn="l"/>
            <a:r>
              <a:rPr sz="3200" b="1" i="0">
                <a:solidFill>
                  <a:srgbClr val="262626"/>
                </a:solidFill>
                <a:latin typeface="Arial"/>
              </a:rPr>
              <a:t>System Architecture</a:t>
            </a:r>
          </a:p>
        </p:txBody>
      </p:sp>
      <p:sp>
        <p:nvSpPr>
          <p:cNvPr id="3" name="Rectangle 2"/>
          <p:cNvSpPr/>
          <p:nvPr/>
        </p:nvSpPr>
        <p:spPr>
          <a:xfrm>
            <a:off x="521207" y="969264"/>
            <a:ext cx="11155680" cy="41148"/>
          </a:xfrm>
          <a:prstGeom prst="rect">
            <a:avLst/>
          </a:prstGeom>
          <a:solidFill>
            <a:srgbClr val="6B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001.jpg"/>
          <p:cNvPicPr>
            <a:picLocks noChangeAspect="1"/>
          </p:cNvPicPr>
          <p:nvPr/>
        </p:nvPicPr>
        <p:blipFill>
          <a:blip r:embed="rId2"/>
          <a:stretch>
            <a:fillRect/>
          </a:stretch>
        </p:blipFill>
        <p:spPr>
          <a:xfrm>
            <a:off x="11292840" y="164592"/>
            <a:ext cx="658368" cy="694944"/>
          </a:xfrm>
          <a:prstGeom prst="rect">
            <a:avLst/>
          </a:prstGeom>
        </p:spPr>
      </p:pic>
      <p:sp>
        <p:nvSpPr>
          <p:cNvPr id="5" name="TextBox 4"/>
          <p:cNvSpPr txBox="1"/>
          <p:nvPr/>
        </p:nvSpPr>
        <p:spPr>
          <a:xfrm>
            <a:off x="9966960" y="6473952"/>
            <a:ext cx="2011680" cy="320040"/>
          </a:xfrm>
          <a:prstGeom prst="rect">
            <a:avLst/>
          </a:prstGeom>
          <a:noFill/>
        </p:spPr>
        <p:txBody>
          <a:bodyPr wrap="square">
            <a:spAutoFit/>
          </a:bodyPr>
          <a:lstStyle/>
          <a:p>
            <a:pPr algn="r"/>
            <a:r>
              <a:rPr sz="1200" b="0" i="0">
                <a:solidFill>
                  <a:srgbClr val="595959"/>
                </a:solidFill>
                <a:latin typeface="Arial"/>
              </a:rPr>
              <a:t>Slide No: 8</a:t>
            </a:r>
          </a:p>
        </p:txBody>
      </p:sp>
      <p:sp>
        <p:nvSpPr>
          <p:cNvPr id="6" name="Rounded Rectangle 5"/>
          <p:cNvSpPr/>
          <p:nvPr/>
        </p:nvSpPr>
        <p:spPr>
          <a:xfrm>
            <a:off x="640080" y="1645920"/>
            <a:ext cx="3154680" cy="960120"/>
          </a:xfrm>
          <a:prstGeom prst="roundRect">
            <a:avLst/>
          </a:prstGeom>
          <a:solidFill>
            <a:srgbClr val="FFFFFF"/>
          </a:solidFill>
          <a:ln w="22225">
            <a:solidFill>
              <a:srgbClr val="6B0F1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262626"/>
                </a:solidFill>
                <a:latin typeface="Arial"/>
              </a:rPr>
              <a:t>React Frontend</a:t>
            </a:r>
          </a:p>
          <a:p>
            <a:pPr algn="ctr"/>
            <a:r>
              <a:rPr sz="1100">
                <a:solidFill>
                  <a:srgbClr val="595959"/>
                </a:solidFill>
                <a:latin typeface="Arial"/>
              </a:rPr>
              <a:t>upload</a:t>
            </a:r>
          </a:p>
        </p:txBody>
      </p:sp>
      <p:sp>
        <p:nvSpPr>
          <p:cNvPr id="7" name="Rounded Rectangle 6"/>
          <p:cNvSpPr/>
          <p:nvPr/>
        </p:nvSpPr>
        <p:spPr>
          <a:xfrm>
            <a:off x="4526280" y="1645920"/>
            <a:ext cx="3154680" cy="960120"/>
          </a:xfrm>
          <a:prstGeom prst="roundRect">
            <a:avLst/>
          </a:prstGeom>
          <a:solidFill>
            <a:srgbClr val="FFFFFF"/>
          </a:solidFill>
          <a:ln w="22225">
            <a:solidFill>
              <a:srgbClr val="6B0F1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262626"/>
                </a:solidFill>
                <a:latin typeface="Arial"/>
              </a:rPr>
              <a:t>Node.js Backend API</a:t>
            </a:r>
          </a:p>
          <a:p>
            <a:pPr algn="ctr"/>
            <a:r>
              <a:rPr sz="1100">
                <a:solidFill>
                  <a:srgbClr val="595959"/>
                </a:solidFill>
                <a:latin typeface="Arial"/>
              </a:rPr>
              <a:t>Express</a:t>
            </a:r>
          </a:p>
        </p:txBody>
      </p:sp>
      <p:sp>
        <p:nvSpPr>
          <p:cNvPr id="8" name="Rounded Rectangle 7"/>
          <p:cNvSpPr/>
          <p:nvPr/>
        </p:nvSpPr>
        <p:spPr>
          <a:xfrm>
            <a:off x="8412480" y="1645920"/>
            <a:ext cx="3154680" cy="960120"/>
          </a:xfrm>
          <a:prstGeom prst="roundRect">
            <a:avLst/>
          </a:prstGeom>
          <a:solidFill>
            <a:srgbClr val="FFFFFF"/>
          </a:solidFill>
          <a:ln w="22225">
            <a:solidFill>
              <a:srgbClr val="6B0F1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262626"/>
                </a:solidFill>
                <a:latin typeface="Arial"/>
              </a:rPr>
              <a:t>Job Queue</a:t>
            </a:r>
          </a:p>
          <a:p>
            <a:pPr algn="ctr"/>
            <a:r>
              <a:rPr sz="1100">
                <a:solidFill>
                  <a:srgbClr val="595959"/>
                </a:solidFill>
                <a:latin typeface="Arial"/>
              </a:rPr>
              <a:t>Redis / Bull</a:t>
            </a:r>
          </a:p>
        </p:txBody>
      </p:sp>
      <p:sp>
        <p:nvSpPr>
          <p:cNvPr id="9" name="Rounded Rectangle 8"/>
          <p:cNvSpPr/>
          <p:nvPr/>
        </p:nvSpPr>
        <p:spPr>
          <a:xfrm>
            <a:off x="640080" y="3794760"/>
            <a:ext cx="3154680" cy="960120"/>
          </a:xfrm>
          <a:prstGeom prst="roundRect">
            <a:avLst/>
          </a:prstGeom>
          <a:solidFill>
            <a:srgbClr val="FFFFFF"/>
          </a:solidFill>
          <a:ln w="22225">
            <a:solidFill>
              <a:srgbClr val="6B0F1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262626"/>
                </a:solidFill>
                <a:latin typeface="Arial"/>
              </a:rPr>
              <a:t>HLS Player</a:t>
            </a:r>
          </a:p>
          <a:p>
            <a:pPr algn="ctr"/>
            <a:r>
              <a:rPr sz="1100">
                <a:solidFill>
                  <a:srgbClr val="595959"/>
                </a:solidFill>
                <a:latin typeface="Arial"/>
              </a:rPr>
              <a:t>adaptive quality</a:t>
            </a:r>
          </a:p>
        </p:txBody>
      </p:sp>
      <p:sp>
        <p:nvSpPr>
          <p:cNvPr id="10" name="Rounded Rectangle 9"/>
          <p:cNvSpPr/>
          <p:nvPr/>
        </p:nvSpPr>
        <p:spPr>
          <a:xfrm>
            <a:off x="4526280" y="3794760"/>
            <a:ext cx="3154680" cy="960120"/>
          </a:xfrm>
          <a:prstGeom prst="roundRect">
            <a:avLst/>
          </a:prstGeom>
          <a:solidFill>
            <a:srgbClr val="FFFFFF"/>
          </a:solidFill>
          <a:ln w="22225">
            <a:solidFill>
              <a:srgbClr val="6B0F1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262626"/>
                </a:solidFill>
                <a:latin typeface="Arial"/>
              </a:rPr>
              <a:t>File Storage</a:t>
            </a:r>
          </a:p>
          <a:p>
            <a:pPr algn="ctr"/>
            <a:r>
              <a:rPr sz="1100">
                <a:solidFill>
                  <a:srgbClr val="595959"/>
                </a:solidFill>
                <a:latin typeface="Arial"/>
              </a:rPr>
              <a:t>segments and playlists</a:t>
            </a:r>
          </a:p>
        </p:txBody>
      </p:sp>
      <p:sp>
        <p:nvSpPr>
          <p:cNvPr id="11" name="Rounded Rectangle 10"/>
          <p:cNvSpPr/>
          <p:nvPr/>
        </p:nvSpPr>
        <p:spPr>
          <a:xfrm>
            <a:off x="8412480" y="3794760"/>
            <a:ext cx="3154680" cy="960120"/>
          </a:xfrm>
          <a:prstGeom prst="roundRect">
            <a:avLst/>
          </a:prstGeom>
          <a:solidFill>
            <a:srgbClr val="FFFFFF"/>
          </a:solidFill>
          <a:ln w="22225">
            <a:solidFill>
              <a:srgbClr val="6B0F1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262626"/>
                </a:solidFill>
                <a:latin typeface="Arial"/>
              </a:rPr>
              <a:t>FFmpeg Transcode Workers</a:t>
            </a:r>
          </a:p>
          <a:p>
            <a:pPr algn="ctr"/>
            <a:r>
              <a:rPr sz="1100">
                <a:solidFill>
                  <a:srgbClr val="595959"/>
                </a:solidFill>
                <a:latin typeface="Arial"/>
              </a:rPr>
              <a:t>background processing</a:t>
            </a:r>
          </a:p>
        </p:txBody>
      </p:sp>
      <p:sp>
        <p:nvSpPr>
          <p:cNvPr id="12" name="Right Arrow 11"/>
          <p:cNvSpPr/>
          <p:nvPr/>
        </p:nvSpPr>
        <p:spPr>
          <a:xfrm>
            <a:off x="3858768" y="1975104"/>
            <a:ext cx="603504" cy="310896"/>
          </a:xfrm>
          <a:prstGeom prst="rightArrow">
            <a:avLst/>
          </a:prstGeom>
          <a:solidFill>
            <a:srgbClr val="6B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7744968" y="1975104"/>
            <a:ext cx="603504" cy="310896"/>
          </a:xfrm>
          <a:prstGeom prst="rightArrow">
            <a:avLst/>
          </a:prstGeom>
          <a:solidFill>
            <a:srgbClr val="6B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wn Arrow 13"/>
          <p:cNvSpPr/>
          <p:nvPr/>
        </p:nvSpPr>
        <p:spPr>
          <a:xfrm>
            <a:off x="9829800" y="2697480"/>
            <a:ext cx="310896" cy="1005840"/>
          </a:xfrm>
          <a:prstGeom prst="downArrow">
            <a:avLst/>
          </a:prstGeom>
          <a:solidFill>
            <a:srgbClr val="6B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Left Arrow 14"/>
          <p:cNvSpPr/>
          <p:nvPr/>
        </p:nvSpPr>
        <p:spPr>
          <a:xfrm>
            <a:off x="7744968" y="4123944"/>
            <a:ext cx="603504" cy="310896"/>
          </a:xfrm>
          <a:prstGeom prst="leftArrow">
            <a:avLst/>
          </a:prstGeom>
          <a:solidFill>
            <a:srgbClr val="6B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Left Arrow 15"/>
          <p:cNvSpPr/>
          <p:nvPr/>
        </p:nvSpPr>
        <p:spPr>
          <a:xfrm>
            <a:off x="3858768" y="4123944"/>
            <a:ext cx="603504" cy="310896"/>
          </a:xfrm>
          <a:prstGeom prst="leftArrow">
            <a:avLst/>
          </a:prstGeom>
          <a:solidFill>
            <a:srgbClr val="6B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983480"/>
            <a:ext cx="11155680" cy="320040"/>
          </a:xfrm>
          <a:prstGeom prst="rect">
            <a:avLst/>
          </a:prstGeom>
          <a:noFill/>
        </p:spPr>
        <p:txBody>
          <a:bodyPr wrap="square">
            <a:spAutoFit/>
          </a:bodyPr>
          <a:lstStyle/>
          <a:p>
            <a:pPr algn="ctr"/>
            <a:r>
              <a:rPr sz="1400" b="0" i="1">
                <a:solidFill>
                  <a:srgbClr val="595959"/>
                </a:solidFill>
                <a:latin typeface="Arial"/>
              </a:rPr>
              <a:t>Fig. 1: System architecture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0515600" cy="685800"/>
          </a:xfrm>
          <a:prstGeom prst="rect">
            <a:avLst/>
          </a:prstGeom>
          <a:noFill/>
        </p:spPr>
        <p:txBody>
          <a:bodyPr wrap="square">
            <a:spAutoFit/>
          </a:bodyPr>
          <a:lstStyle/>
          <a:p>
            <a:pPr algn="l"/>
            <a:r>
              <a:rPr sz="3200" b="1" i="0">
                <a:solidFill>
                  <a:srgbClr val="262626"/>
                </a:solidFill>
                <a:latin typeface="Arial"/>
              </a:rPr>
              <a:t>Results</a:t>
            </a:r>
          </a:p>
        </p:txBody>
      </p:sp>
      <p:sp>
        <p:nvSpPr>
          <p:cNvPr id="3" name="Rectangle 2"/>
          <p:cNvSpPr/>
          <p:nvPr/>
        </p:nvSpPr>
        <p:spPr>
          <a:xfrm>
            <a:off x="521207" y="969264"/>
            <a:ext cx="11155680" cy="41148"/>
          </a:xfrm>
          <a:prstGeom prst="rect">
            <a:avLst/>
          </a:prstGeom>
          <a:solidFill>
            <a:srgbClr val="6B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001.jpg"/>
          <p:cNvPicPr>
            <a:picLocks noChangeAspect="1"/>
          </p:cNvPicPr>
          <p:nvPr/>
        </p:nvPicPr>
        <p:blipFill>
          <a:blip r:embed="rId2"/>
          <a:stretch>
            <a:fillRect/>
          </a:stretch>
        </p:blipFill>
        <p:spPr>
          <a:xfrm>
            <a:off x="11292840" y="164592"/>
            <a:ext cx="658368" cy="694944"/>
          </a:xfrm>
          <a:prstGeom prst="rect">
            <a:avLst/>
          </a:prstGeom>
        </p:spPr>
      </p:pic>
      <p:sp>
        <p:nvSpPr>
          <p:cNvPr id="5" name="TextBox 4"/>
          <p:cNvSpPr txBox="1"/>
          <p:nvPr/>
        </p:nvSpPr>
        <p:spPr>
          <a:xfrm>
            <a:off x="9966960" y="6473952"/>
            <a:ext cx="2011680" cy="320040"/>
          </a:xfrm>
          <a:prstGeom prst="rect">
            <a:avLst/>
          </a:prstGeom>
          <a:noFill/>
        </p:spPr>
        <p:txBody>
          <a:bodyPr wrap="square">
            <a:spAutoFit/>
          </a:bodyPr>
          <a:lstStyle/>
          <a:p>
            <a:pPr algn="r"/>
            <a:r>
              <a:rPr sz="1200" b="0" i="0">
                <a:solidFill>
                  <a:srgbClr val="595959"/>
                </a:solidFill>
                <a:latin typeface="Arial"/>
              </a:rPr>
              <a:t>Slide No: 9</a:t>
            </a:r>
          </a:p>
        </p:txBody>
      </p:sp>
      <p:sp>
        <p:nvSpPr>
          <p:cNvPr id="6" name="TextBox 5"/>
          <p:cNvSpPr txBox="1"/>
          <p:nvPr/>
        </p:nvSpPr>
        <p:spPr>
          <a:xfrm>
            <a:off x="640080" y="1554480"/>
            <a:ext cx="5943600" cy="4114800"/>
          </a:xfrm>
          <a:prstGeom prst="rect">
            <a:avLst/>
          </a:prstGeom>
          <a:noFill/>
        </p:spPr>
        <p:txBody>
          <a:bodyPr wrap="square">
            <a:spAutoFit/>
          </a:bodyPr>
          <a:lstStyle/>
          <a:p>
            <a:pPr>
              <a:spcAft>
                <a:spcPts val="2000"/>
              </a:spcAft>
            </a:pPr>
            <a:r>
              <a:rPr sz="2200">
                <a:solidFill>
                  <a:srgbClr val="262626"/>
                </a:solidFill>
                <a:latin typeface="Arial"/>
              </a:rPr>
              <a:t>•  Server doesn't crash during heavy video uploads anymore.</a:t>
            </a:r>
          </a:p>
          <a:p>
            <a:pPr>
              <a:spcAft>
                <a:spcPts val="2000"/>
              </a:spcAft>
            </a:pPr>
            <a:r>
              <a:rPr sz="2200">
                <a:solidFill>
                  <a:srgbClr val="262626"/>
                </a:solidFill>
                <a:latin typeface="Arial"/>
              </a:rPr>
              <a:t>•  Videos play smoothly even on slow networks.</a:t>
            </a:r>
          </a:p>
          <a:p>
            <a:pPr>
              <a:spcAft>
                <a:spcPts val="2000"/>
              </a:spcAft>
            </a:pPr>
            <a:r>
              <a:rPr sz="2200">
                <a:solidFill>
                  <a:srgbClr val="262626"/>
                </a:solidFill>
                <a:latin typeface="Arial"/>
              </a:rPr>
              <a:t>•  Users can switch audio and subtitles seamlessly.</a:t>
            </a:r>
          </a:p>
          <a:p>
            <a:pPr>
              <a:spcAft>
                <a:spcPts val="2000"/>
              </a:spcAft>
            </a:pPr>
            <a:r>
              <a:rPr sz="2200">
                <a:solidFill>
                  <a:srgbClr val="262626"/>
                </a:solidFill>
                <a:latin typeface="Arial"/>
              </a:rPr>
              <a:t>•  Failed transcoding jobs can now auto-retry.</a:t>
            </a:r>
          </a:p>
        </p:txBody>
      </p:sp>
      <p:pic>
        <p:nvPicPr>
          <p:cNvPr id="7" name="Picture 6" descr="queue_monitor.jpg"/>
          <p:cNvPicPr>
            <a:picLocks noChangeAspect="1"/>
          </p:cNvPicPr>
          <p:nvPr/>
        </p:nvPicPr>
        <p:blipFill>
          <a:blip r:embed="rId3"/>
          <a:stretch>
            <a:fillRect/>
          </a:stretch>
        </p:blipFill>
        <p:spPr>
          <a:xfrm>
            <a:off x="6858000" y="2148840"/>
            <a:ext cx="4754880" cy="2468880"/>
          </a:xfrm>
          <a:prstGeom prst="rect">
            <a:avLst/>
          </a:prstGeom>
        </p:spPr>
      </p:pic>
      <p:sp>
        <p:nvSpPr>
          <p:cNvPr id="8" name="TextBox 7"/>
          <p:cNvSpPr txBox="1"/>
          <p:nvPr/>
        </p:nvSpPr>
        <p:spPr>
          <a:xfrm>
            <a:off x="6858000" y="4709160"/>
            <a:ext cx="4754880" cy="548640"/>
          </a:xfrm>
          <a:prstGeom prst="rect">
            <a:avLst/>
          </a:prstGeom>
          <a:noFill/>
        </p:spPr>
        <p:txBody>
          <a:bodyPr wrap="square">
            <a:spAutoFit/>
          </a:bodyPr>
          <a:lstStyle/>
          <a:p>
            <a:pPr algn="ctr"/>
            <a:r>
              <a:rPr sz="1400" b="0" i="1">
                <a:solidFill>
                  <a:srgbClr val="595959"/>
                </a:solidFill>
                <a:latin typeface="Arial"/>
              </a:rPr>
              <a:t>Fig. 2: The queue monitor - background FFmpeg jobs in real time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0515600" cy="685800"/>
          </a:xfrm>
          <a:prstGeom prst="rect">
            <a:avLst/>
          </a:prstGeom>
          <a:noFill/>
        </p:spPr>
        <p:txBody>
          <a:bodyPr wrap="square">
            <a:spAutoFit/>
          </a:bodyPr>
          <a:lstStyle/>
          <a:p>
            <a:pPr algn="l"/>
            <a:r>
              <a:rPr sz="3200" b="1" i="0">
                <a:solidFill>
                  <a:srgbClr val="262626"/>
                </a:solidFill>
                <a:latin typeface="Arial"/>
              </a:rPr>
              <a:t>Conclusion</a:t>
            </a:r>
          </a:p>
        </p:txBody>
      </p:sp>
      <p:sp>
        <p:nvSpPr>
          <p:cNvPr id="3" name="Rectangle 2"/>
          <p:cNvSpPr/>
          <p:nvPr/>
        </p:nvSpPr>
        <p:spPr>
          <a:xfrm>
            <a:off x="521207" y="969264"/>
            <a:ext cx="11155680" cy="41148"/>
          </a:xfrm>
          <a:prstGeom prst="rect">
            <a:avLst/>
          </a:prstGeom>
          <a:solidFill>
            <a:srgbClr val="6B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001.jpg"/>
          <p:cNvPicPr>
            <a:picLocks noChangeAspect="1"/>
          </p:cNvPicPr>
          <p:nvPr/>
        </p:nvPicPr>
        <p:blipFill>
          <a:blip r:embed="rId2"/>
          <a:stretch>
            <a:fillRect/>
          </a:stretch>
        </p:blipFill>
        <p:spPr>
          <a:xfrm>
            <a:off x="11292840" y="164592"/>
            <a:ext cx="658368" cy="694944"/>
          </a:xfrm>
          <a:prstGeom prst="rect">
            <a:avLst/>
          </a:prstGeom>
        </p:spPr>
      </p:pic>
      <p:sp>
        <p:nvSpPr>
          <p:cNvPr id="5" name="TextBox 4"/>
          <p:cNvSpPr txBox="1"/>
          <p:nvPr/>
        </p:nvSpPr>
        <p:spPr>
          <a:xfrm>
            <a:off x="9966960" y="6473952"/>
            <a:ext cx="2011680" cy="320040"/>
          </a:xfrm>
          <a:prstGeom prst="rect">
            <a:avLst/>
          </a:prstGeom>
          <a:noFill/>
        </p:spPr>
        <p:txBody>
          <a:bodyPr wrap="square">
            <a:spAutoFit/>
          </a:bodyPr>
          <a:lstStyle/>
          <a:p>
            <a:pPr algn="r"/>
            <a:r>
              <a:rPr sz="1200" b="0" i="0">
                <a:solidFill>
                  <a:srgbClr val="595959"/>
                </a:solidFill>
                <a:latin typeface="Arial"/>
              </a:rPr>
              <a:t>Slide No: 10</a:t>
            </a:r>
          </a:p>
        </p:txBody>
      </p:sp>
      <p:sp>
        <p:nvSpPr>
          <p:cNvPr id="6" name="TextBox 5"/>
          <p:cNvSpPr txBox="1"/>
          <p:nvPr/>
        </p:nvSpPr>
        <p:spPr>
          <a:xfrm>
            <a:off x="640080" y="1828800"/>
            <a:ext cx="10789920" cy="3200400"/>
          </a:xfrm>
          <a:prstGeom prst="rect">
            <a:avLst/>
          </a:prstGeom>
          <a:noFill/>
        </p:spPr>
        <p:txBody>
          <a:bodyPr wrap="square">
            <a:spAutoFit/>
          </a:bodyPr>
          <a:lstStyle/>
          <a:p>
            <a:pPr>
              <a:spcAft>
                <a:spcPts val="2200"/>
              </a:spcAft>
            </a:pPr>
            <a:r>
              <a:rPr sz="2600">
                <a:solidFill>
                  <a:srgbClr val="262626"/>
                </a:solidFill>
                <a:latin typeface="Arial"/>
              </a:rPr>
              <a:t>•  Background processing is crucial for video platforms.</a:t>
            </a:r>
          </a:p>
          <a:p>
            <a:pPr>
              <a:spcAft>
                <a:spcPts val="2200"/>
              </a:spcAft>
            </a:pPr>
            <a:r>
              <a:rPr sz="2600">
                <a:solidFill>
                  <a:srgbClr val="262626"/>
                </a:solidFill>
                <a:latin typeface="Arial"/>
              </a:rPr>
              <a:t>•  HLS provides a much better user experience than direct MP4.</a:t>
            </a:r>
          </a:p>
          <a:p>
            <a:pPr>
              <a:spcAft>
                <a:spcPts val="2200"/>
              </a:spcAft>
            </a:pPr>
            <a:r>
              <a:rPr sz="2600">
                <a:solidFill>
                  <a:srgbClr val="262626"/>
                </a:solidFill>
                <a:latin typeface="Arial"/>
              </a:rPr>
              <a:t>•  Custom FFmpeg integration is complex but highly cost-effective.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0515600" cy="685800"/>
          </a:xfrm>
          <a:prstGeom prst="rect">
            <a:avLst/>
          </a:prstGeom>
          <a:noFill/>
        </p:spPr>
        <p:txBody>
          <a:bodyPr wrap="square">
            <a:spAutoFit/>
          </a:bodyPr>
          <a:lstStyle/>
          <a:p>
            <a:pPr algn="l"/>
            <a:r>
              <a:rPr sz="3200" b="1" i="0">
                <a:solidFill>
                  <a:srgbClr val="262626"/>
                </a:solidFill>
                <a:latin typeface="Arial"/>
              </a:rPr>
              <a:t>Future Work</a:t>
            </a:r>
          </a:p>
        </p:txBody>
      </p:sp>
      <p:sp>
        <p:nvSpPr>
          <p:cNvPr id="3" name="Rectangle 2"/>
          <p:cNvSpPr/>
          <p:nvPr/>
        </p:nvSpPr>
        <p:spPr>
          <a:xfrm>
            <a:off x="521207" y="969264"/>
            <a:ext cx="11155680" cy="41148"/>
          </a:xfrm>
          <a:prstGeom prst="rect">
            <a:avLst/>
          </a:prstGeom>
          <a:solidFill>
            <a:srgbClr val="6B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001.jpg"/>
          <p:cNvPicPr>
            <a:picLocks noChangeAspect="1"/>
          </p:cNvPicPr>
          <p:nvPr/>
        </p:nvPicPr>
        <p:blipFill>
          <a:blip r:embed="rId2"/>
          <a:stretch>
            <a:fillRect/>
          </a:stretch>
        </p:blipFill>
        <p:spPr>
          <a:xfrm>
            <a:off x="11292840" y="164592"/>
            <a:ext cx="658368" cy="694944"/>
          </a:xfrm>
          <a:prstGeom prst="rect">
            <a:avLst/>
          </a:prstGeom>
        </p:spPr>
      </p:pic>
      <p:sp>
        <p:nvSpPr>
          <p:cNvPr id="5" name="TextBox 4"/>
          <p:cNvSpPr txBox="1"/>
          <p:nvPr/>
        </p:nvSpPr>
        <p:spPr>
          <a:xfrm>
            <a:off x="9966960" y="6473952"/>
            <a:ext cx="2011680" cy="320040"/>
          </a:xfrm>
          <a:prstGeom prst="rect">
            <a:avLst/>
          </a:prstGeom>
          <a:noFill/>
        </p:spPr>
        <p:txBody>
          <a:bodyPr wrap="square">
            <a:spAutoFit/>
          </a:bodyPr>
          <a:lstStyle/>
          <a:p>
            <a:pPr algn="r"/>
            <a:r>
              <a:rPr sz="1200" b="0" i="0">
                <a:solidFill>
                  <a:srgbClr val="595959"/>
                </a:solidFill>
                <a:latin typeface="Arial"/>
              </a:rPr>
              <a:t>Slide No: 11</a:t>
            </a:r>
          </a:p>
        </p:txBody>
      </p:sp>
      <p:sp>
        <p:nvSpPr>
          <p:cNvPr id="6" name="TextBox 5"/>
          <p:cNvSpPr txBox="1"/>
          <p:nvPr/>
        </p:nvSpPr>
        <p:spPr>
          <a:xfrm>
            <a:off x="640080" y="1828800"/>
            <a:ext cx="10789920" cy="3200400"/>
          </a:xfrm>
          <a:prstGeom prst="rect">
            <a:avLst/>
          </a:prstGeom>
          <a:noFill/>
        </p:spPr>
        <p:txBody>
          <a:bodyPr wrap="square">
            <a:spAutoFit/>
          </a:bodyPr>
          <a:lstStyle/>
          <a:p>
            <a:pPr>
              <a:spcAft>
                <a:spcPts val="2200"/>
              </a:spcAft>
            </a:pPr>
            <a:r>
              <a:rPr sz="2600">
                <a:solidFill>
                  <a:srgbClr val="262626"/>
                </a:solidFill>
                <a:latin typeface="Arial"/>
              </a:rPr>
              <a:t>•  Move file storage to cloud (e.g., AWS S3).</a:t>
            </a:r>
          </a:p>
          <a:p>
            <a:pPr>
              <a:spcAft>
                <a:spcPts val="2200"/>
              </a:spcAft>
            </a:pPr>
            <a:r>
              <a:rPr sz="2600">
                <a:solidFill>
                  <a:srgbClr val="262626"/>
                </a:solidFill>
                <a:latin typeface="Arial"/>
              </a:rPr>
              <a:t>•  Add low-latency live streaming support.</a:t>
            </a:r>
          </a:p>
          <a:p>
            <a:pPr>
              <a:spcAft>
                <a:spcPts val="2200"/>
              </a:spcAft>
            </a:pPr>
            <a:r>
              <a:rPr sz="2600">
                <a:solidFill>
                  <a:srgbClr val="262626"/>
                </a:solidFill>
                <a:latin typeface="Arial"/>
              </a:rPr>
              <a:t>•  Setup multiple transcode workers on different servers.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0515600" cy="685800"/>
          </a:xfrm>
          <a:prstGeom prst="rect">
            <a:avLst/>
          </a:prstGeom>
          <a:noFill/>
        </p:spPr>
        <p:txBody>
          <a:bodyPr wrap="square">
            <a:spAutoFit/>
          </a:bodyPr>
          <a:lstStyle/>
          <a:p>
            <a:pPr algn="l"/>
            <a:r>
              <a:rPr sz="3200" b="1" i="0">
                <a:solidFill>
                  <a:srgbClr val="262626"/>
                </a:solidFill>
                <a:latin typeface="Arial"/>
              </a:rPr>
              <a:t>References</a:t>
            </a:r>
          </a:p>
        </p:txBody>
      </p:sp>
      <p:sp>
        <p:nvSpPr>
          <p:cNvPr id="3" name="Rectangle 2"/>
          <p:cNvSpPr/>
          <p:nvPr/>
        </p:nvSpPr>
        <p:spPr>
          <a:xfrm>
            <a:off x="521207" y="969264"/>
            <a:ext cx="11155680" cy="41148"/>
          </a:xfrm>
          <a:prstGeom prst="rect">
            <a:avLst/>
          </a:prstGeom>
          <a:solidFill>
            <a:srgbClr val="6B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001.jpg"/>
          <p:cNvPicPr>
            <a:picLocks noChangeAspect="1"/>
          </p:cNvPicPr>
          <p:nvPr/>
        </p:nvPicPr>
        <p:blipFill>
          <a:blip r:embed="rId2"/>
          <a:stretch>
            <a:fillRect/>
          </a:stretch>
        </p:blipFill>
        <p:spPr>
          <a:xfrm>
            <a:off x="11292840" y="164592"/>
            <a:ext cx="658368" cy="694944"/>
          </a:xfrm>
          <a:prstGeom prst="rect">
            <a:avLst/>
          </a:prstGeom>
        </p:spPr>
      </p:pic>
      <p:sp>
        <p:nvSpPr>
          <p:cNvPr id="5" name="TextBox 4"/>
          <p:cNvSpPr txBox="1"/>
          <p:nvPr/>
        </p:nvSpPr>
        <p:spPr>
          <a:xfrm>
            <a:off x="9966960" y="6473952"/>
            <a:ext cx="2011680" cy="320040"/>
          </a:xfrm>
          <a:prstGeom prst="rect">
            <a:avLst/>
          </a:prstGeom>
          <a:noFill/>
        </p:spPr>
        <p:txBody>
          <a:bodyPr wrap="square">
            <a:spAutoFit/>
          </a:bodyPr>
          <a:lstStyle/>
          <a:p>
            <a:pPr algn="r"/>
            <a:r>
              <a:rPr sz="1200" b="0" i="0">
                <a:solidFill>
                  <a:srgbClr val="595959"/>
                </a:solidFill>
                <a:latin typeface="Arial"/>
              </a:rPr>
              <a:t>Slide No: 12</a:t>
            </a:r>
          </a:p>
        </p:txBody>
      </p:sp>
      <p:sp>
        <p:nvSpPr>
          <p:cNvPr id="6" name="TextBox 5"/>
          <p:cNvSpPr txBox="1"/>
          <p:nvPr/>
        </p:nvSpPr>
        <p:spPr>
          <a:xfrm>
            <a:off x="640080" y="1554480"/>
            <a:ext cx="10789920" cy="3200400"/>
          </a:xfrm>
          <a:prstGeom prst="rect">
            <a:avLst/>
          </a:prstGeom>
          <a:noFill/>
        </p:spPr>
        <p:txBody>
          <a:bodyPr wrap="square">
            <a:spAutoFit/>
          </a:bodyPr>
          <a:lstStyle/>
          <a:p>
            <a:pPr>
              <a:spcAft>
                <a:spcPts val="1800"/>
              </a:spcAft>
            </a:pPr>
            <a:r>
              <a:rPr sz="2400">
                <a:solidFill>
                  <a:srgbClr val="262626"/>
                </a:solidFill>
                <a:latin typeface="Arial"/>
              </a:rPr>
              <a:t>•  Apple Developer Documentation - HLS Specification.</a:t>
            </a:r>
          </a:p>
          <a:p>
            <a:pPr>
              <a:spcAft>
                <a:spcPts val="1800"/>
              </a:spcAft>
            </a:pPr>
            <a:r>
              <a:rPr sz="2400">
                <a:solidFill>
                  <a:srgbClr val="262626"/>
                </a:solidFill>
                <a:latin typeface="Arial"/>
              </a:rPr>
              <a:t>•  FFmpeg Documentation (ffmpeg.org/ffmpeg-all.html).</a:t>
            </a:r>
          </a:p>
          <a:p>
            <a:pPr>
              <a:spcAft>
                <a:spcPts val="1800"/>
              </a:spcAft>
            </a:pPr>
            <a:r>
              <a:rPr sz="2400">
                <a:solidFill>
                  <a:srgbClr val="262626"/>
                </a:solidFill>
                <a:latin typeface="Arial"/>
              </a:rPr>
              <a:t>•  Node.js Child Process API (nodejs.org/api/child_process.html).</a:t>
            </a:r>
          </a:p>
          <a:p>
            <a:pPr>
              <a:spcAft>
                <a:spcPts val="1800"/>
              </a:spcAft>
            </a:pPr>
            <a:r>
              <a:rPr sz="2400">
                <a:solidFill>
                  <a:srgbClr val="262626"/>
                </a:solidFill>
                <a:latin typeface="Arial"/>
              </a:rPr>
              <a:t>•  hls.js API Documentation (github.com/video-dev/hls.js).</a:t>
            </a:r>
          </a:p>
        </p:txBody>
      </p:sp>
      <p:sp>
        <p:nvSpPr>
          <p:cNvPr id="7" name="TextBox 6"/>
          <p:cNvSpPr txBox="1"/>
          <p:nvPr/>
        </p:nvSpPr>
        <p:spPr>
          <a:xfrm>
            <a:off x="822960" y="5760720"/>
            <a:ext cx="10881360" cy="457200"/>
          </a:xfrm>
          <a:prstGeom prst="rect">
            <a:avLst/>
          </a:prstGeom>
          <a:noFill/>
        </p:spPr>
        <p:txBody>
          <a:bodyPr wrap="square">
            <a:spAutoFit/>
          </a:bodyPr>
          <a:lstStyle/>
          <a:p>
            <a:pPr algn="ctr"/>
            <a:r>
              <a:rPr sz="2000" b="1" i="0">
                <a:solidFill>
                  <a:srgbClr val="6B0F1A"/>
                </a:solidFill>
                <a:latin typeface="Arial"/>
              </a:rPr>
              <a:t>Thank you! Questions are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